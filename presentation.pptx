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 type="screen16x9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 standalone="yes"?>
<p:sld xmlns:p="http://schemas.openxmlformats.org/presentationml/2006/main" xmlns:a="http://schemas.openxmlformats.org/drawingml/2006/main" xmlns:r="http://schemas.openxmlformats.org/officeDocument/2006/relationships">
  <p:cSld>
    <p:spTree>
      <p:nvGrpSpPr><p:cNvPr id="1" name=""/><p:cNvGrpSpPr/><p:nvPr/></p:nvGrpSpPr>
      <p:grpSpPr><a:xfrm><a:off x="0" y="0"/><a:ext cx="0" cy="0"/><a:chOff x="0" y="0"/><a:chExt cx="0" cy="0"/></a:xfrm></p:grpSpPr>
      
      <!-- Title Box -->
      <p:sp>
        <p:nvSpPr>
          <p:cNvPr id="2" name="Title 1"/>
          <p:cNvSpPr><a:spLocks noGrp="1"/></p:cNvSpPr>
          <p:nvPr/>
        </p:nvSpPr>
        <p:spPr>
          <a:xfrm><a:off x="838200" y="609600"/><a:ext cx="10515600" cy="1143000"/></a:xfrm>
        </p:spPr>
        <p:txBody>
          <a:bodyPr/>
          <a:lstStyle/>
          <a:p>
            <a:r>
              <a:rPr lang="en-US" b="1" sz="3600">
                <a:solidFill><a:srgbClr val="1E3A8A"/></a:solidFill>
              </a:rPr>
              <a:t>Smart City Issue Reporting & Resolution Platform</a:t>
            </a:r>
          </a:p>
        </p:txBody>
      </p:sp>

      <!-- Body Box -->
      <p:sp>
        <p:nvSpPr>
          <p:cNvPr id="3" name="Content 2"/>
          <p:cNvSpPr><a:spLocks noGrp="1"/></p:cNvSpPr>
          <p:nvPr/>
        </p:nvSpPr>
        <p:spPr>
          <a:xfrm><a:off x="838200" y="1981200"/><a:ext cx="10515600" cy="4267200"/></a:xfrm>
        </p:spPr>
        <p:txBody>
          <a:bodyPr/>
          <a:lstStyle/>
          
            <a:p>
              <a:pPr lvl="0"/>
              <a:r>
                <a:rPr lang="en-US" sz="2000">
                  <a:solidFill><a:srgbClr val="334155"/></a:solidFill>
                </a:rPr>
                <a:t>Team RICR-HIM-1026 • Registered Member: Ayushi Pawar</a:t>
              </a:r>
            </a:p>
            <a:p>
              <a:pPr lvl="0"/>
              <a:r>
                <a:rPr lang="en-US" sz="2000">
                  <a:solidFill><a:srgbClr val="334155"/></a:solidFill>
                </a:rPr>
                <a:t>HackInMotion 2026 • Theme: Smart Cities & Civic Tech</a:t>
              </a:r>
            </a:p>
        </p:txBody>
      </p:sp>
    </p:spTree>
  </p:cSld>
</p:sld>
</file>

<file path=ppt/slides/slide2.xml><?xml version="1.0" encoding="UTF-8" standalone="yes"?>
<p:sld xmlns:p="http://schemas.openxmlformats.org/presentationml/2006/main" xmlns:a="http://schemas.openxmlformats.org/drawingml/2006/main" xmlns:r="http://schemas.openxmlformats.org/officeDocument/2006/relationships">
  <p:cSld>
    <p:spTree>
      <p:nvGrpSpPr><p:cNvPr id="1" name=""/><p:cNvGrpSpPr/><p:nvPr/></p:nvGrpSpPr>
      <p:grpSpPr><a:xfrm><a:off x="0" y="0"/><a:ext cx="0" cy="0"/><a:chOff x="0" y="0"/><a:chExt cx="0" cy="0"/></a:xfrm></p:grpSpPr>
      
      <!-- Title Box -->
      <p:sp>
        <p:nvSpPr>
          <p:cNvPr id="2" name="Title 1"/>
          <p:cNvSpPr><a:spLocks noGrp="1"/></p:cNvSpPr>
          <p:nvPr/>
        </p:nvSpPr>
        <p:spPr>
          <a:xfrm><a:off x="838200" y="609600"/><a:ext cx="10515600" cy="1143000"/></a:xfrm>
        </p:spPr>
        <p:txBody>
          <a:bodyPr/>
          <a:lstStyle/>
          <a:p>
            <a:r>
              <a:rPr lang="en-US" b="1" sz="3600">
                <a:solidFill><a:srgbClr val="1E3A8A"/></a:solidFill>
              </a:rPr>
              <a:t>1. The Real-World Civic Redressal Crisis</a:t>
            </a:r>
          </a:p>
        </p:txBody>
      </p:sp>

      <!-- Body Box -->
      <p:sp>
        <p:nvSpPr>
          <p:cNvPr id="3" name="Content 2"/>
          <p:cNvSpPr><a:spLocks noGrp="1"/></p:cNvSpPr>
          <p:nvPr/>
        </p:nvSpPr>
        <p:spPr>
          <a:xfrm><a:off x="838200" y="1981200"/><a:ext cx="10515600" cy="4267200"/></a:xfrm>
        </p:spPr>
        <p:txBody>
          <a:bodyPr/>
          <a:lstStyle/>
          
            <a:p>
              <a:pPr lvl="0"/>
              <a:r>
                <a:rPr lang="en-US" sz="2000">
                  <a:solidFill><a:srgbClr val="334155"/></a:solidFill>
                </a:rPr>
                <a:t>• Municipal complaints sit unassigned across disconnected departmental silos.</a:t>
              </a:r>
            </a:p>
            <a:p>
              <a:pPr lvl="0"/>
              <a:r>
                <a:rPr lang="en-US" sz="2000">
                  <a:solidFill><a:srgbClr val="334155"/></a:solidFill>
                </a:rPr>
                <a:t>• Redundant duplicate reports pile up for the same potholes and broken streetlights.</a:t>
              </a:r>
            </a:p>
            <a:p>
              <a:pPr lvl="0"/>
              <a:r>
                <a:rPr lang="en-US" sz="2000">
                  <a:solidFill><a:srgbClr val="334155"/></a:solidFill>
                </a:rPr>
                <a:t>• Citizens lack visibility, proof of resolution, and accountability mechanisms.</a:t>
              </a:r>
            </a:p>
            <a:p>
              <a:pPr lvl="0"/>
              <a:r>
                <a:rPr lang="en-US" sz="2000">
                  <a:solidFill><a:srgbClr val="334155"/></a:solidFill>
                </a:rPr>
                <a:t>• Solution: An intelligent, automated two-role civic grievance & resolution pipeline.</a:t>
              </a:r>
            </a:p>
        </p:txBody>
      </p:sp>
    </p:spTree>
  </p:cSld>
</p:sld>
</file>

<file path=ppt/slides/slide3.xml><?xml version="1.0" encoding="UTF-8" standalone="yes"?>
<p:sld xmlns:p="http://schemas.openxmlformats.org/presentationml/2006/main" xmlns:a="http://schemas.openxmlformats.org/drawingml/2006/main" xmlns:r="http://schemas.openxmlformats.org/officeDocument/2006/relationships">
  <p:cSld>
    <p:spTree>
      <p:nvGrpSpPr><p:cNvPr id="1" name=""/><p:cNvGrpSpPr/><p:nvPr/></p:nvGrpSpPr>
      <p:grpSpPr><a:xfrm><a:off x="0" y="0"/><a:ext cx="0" cy="0"/><a:chOff x="0" y="0"/><a:chExt cx="0" cy="0"/></a:xfrm></p:grpSpPr>
      
      <!-- Title Box -->
      <p:sp>
        <p:nvSpPr>
          <p:cNvPr id="2" name="Title 1"/>
          <p:cNvSpPr><a:spLocks noGrp="1"/></p:cNvSpPr>
          <p:nvPr/>
        </p:nvSpPr>
        <p:spPr>
          <a:xfrm><a:off x="838200" y="609600"/><a:ext cx="10515600" cy="1143000"/></a:xfrm>
        </p:spPr>
        <p:txBody>
          <a:bodyPr/>
          <a:lstStyle/>
          <a:p>
            <a:r>
              <a:rPr lang="en-US" b="1" sz="3600">
                <a:solidFill><a:srgbClr val="1E3A8A"/></a:solidFill>
              </a:rPr>
              <a:t>2. Dual-Role Architecture & Stakeholder Flow</a:t>
            </a:r>
          </a:p>
        </p:txBody>
      </p:sp>

      <!-- Body Box -->
      <p:sp>
        <p:nvSpPr>
          <p:cNvPr id="3" name="Content 2"/>
          <p:cNvSpPr><a:spLocks noGrp="1"/></p:cNvSpPr>
          <p:nvPr/>
        </p:nvSpPr>
        <p:spPr>
          <a:xfrm><a:off x="838200" y="1981200"/><a:ext cx="10515600" cy="4267200"/></a:xfrm>
        </p:spPr>
        <p:txBody>
          <a:bodyPr/>
          <a:lstStyle/>
          
            <a:p>
              <a:pPr lvl="0"/>
              <a:r>
                <a:rPr lang="en-US" sz="2000">
                  <a:solidFill><a:srgbClr val="334155"/></a:solidFill>
                </a:rPr>
                <a:t>• Citizen Portal: Interactive Leaflet map pinning, photo evidence upload, live status tracking, upvoting.</a:t>
              </a:r>
            </a:p>
            <a:p>
              <a:pPr lvl="0"/>
              <a:r>
                <a:rPr lang="en-US" sz="2000">
                  <a:solidFill><a:srgbClr val="334155"/></a:solidFill>
                </a:rPr>
                <a:t>• Municipal Admin Dashboard: Department queues (Roads, Sanitation, Water, Power), SLA countdowns.</a:t>
              </a:r>
            </a:p>
            <a:p>
              <a:pPr lvl="0"/>
              <a:r>
                <a:rPr lang="en-US" sz="2000">
                  <a:solidFill><a:srgbClr val="334155"/></a:solidFill>
                </a:rPr>
                <a:t>• Strict Backend RBAC: JWT authentication with cryptographic role enforcement and citizen data isolation.</a:t>
              </a:r>
            </a:p>
        </p:txBody>
      </p:sp>
    </p:spTree>
  </p:cSld>
</p:sld>
</file>

<file path=ppt/slides/slide4.xml><?xml version="1.0" encoding="UTF-8" standalone="yes"?>
<p:sld xmlns:p="http://schemas.openxmlformats.org/presentationml/2006/main" xmlns:a="http://schemas.openxmlformats.org/drawingml/2006/main" xmlns:r="http://schemas.openxmlformats.org/officeDocument/2006/relationships">
  <p:cSld>
    <p:spTree>
      <p:nvGrpSpPr><p:cNvPr id="1" name=""/><p:cNvGrpSpPr/><p:nvPr/></p:nvGrpSpPr>
      <p:grpSpPr><a:xfrm><a:off x="0" y="0"/><a:ext cx="0" cy="0"/><a:chOff x="0" y="0"/><a:chExt cx="0" cy="0"/></a:xfrm></p:grpSpPr>
      
      <!-- Title Box -->
      <p:sp>
        <p:nvSpPr>
          <p:cNvPr id="2" name="Title 1"/>
          <p:cNvSpPr><a:spLocks noGrp="1"/></p:cNvSpPr>
          <p:nvPr/>
        </p:nvSpPr>
        <p:spPr>
          <a:xfrm><a:off x="838200" y="609600"/><a:ext cx="10515600" cy="1143000"/></a:xfrm>
        </p:spPr>
        <p:txBody>
          <a:bodyPr/>
          <a:lstStyle/>
          <a:p>
            <a:r>
              <a:rPr lang="en-US" b="1" sz="3600">
                <a:solidFill><a:srgbClr val="1E3A8A"/></a:solidFill>
              </a:rPr>
              <a:t>3. Algorithmic Innovations & Intelligence Engine</a:t>
            </a:r>
          </a:p>
        </p:txBody>
      </p:sp>

      <!-- Body Box -->
      <p:sp>
        <p:nvSpPr>
          <p:cNvPr id="3" name="Content 2"/>
          <p:cNvSpPr><a:spLocks noGrp="1"/></p:cNvSpPr>
          <p:nvPr/>
        </p:nvSpPr>
        <p:spPr>
          <a:xfrm><a:off x="838200" y="1981200"/><a:ext cx="10515600" cy="4267200"/></a:xfrm>
        </p:spPr>
        <p:txBody>
          <a:bodyPr/>
          <a:lstStyle/>
          
            <a:p>
              <a:pPr lvl="0"/>
              <a:r>
                <a:rPr lang="en-US" sz="2000">
                  <a:solidFill><a:srgbClr val="334155"/></a:solidFill>
                </a:rPr>
                <a:t>• Haversine Spatial Duplicate Detection: Calculates geographic distance (<500m) + token similarity to prevent redundant municipal dispatch.</a:t>
              </a:r>
            </a:p>
            <a:p>
              <a:pPr lvl="0"/>
              <a:r>
                <a:rPr lang="en-US" sz="2000">
                  <a:solidFill><a:srgbClr val="334155"/></a:solidFill>
                </a:rPr>
                <a:t>• Automated Category Routing: Extensible keyword engine routes complaints instantly to designated municipal departments.</a:t>
              </a:r>
            </a:p>
            <a:p>
              <a:pPr lvl="0"/>
              <a:r>
                <a:rPr lang="en-US" sz="2000">
                  <a:solidFill><a:srgbClr val="334155"/></a:solidFill>
                </a:rPr>
                <a:t>• SLA Escalation Engine: Priority-based resolution timers (Urgent: 24h, High: 48h) with alert triggers.</a:t>
              </a:r>
            </a:p>
        </p:txBody>
      </p:sp>
    </p:spTree>
  </p:cSld>
</p:sld>
</file>

<file path=ppt/slides/slide5.xml><?xml version="1.0" encoding="UTF-8" standalone="yes"?>
<p:sld xmlns:p="http://schemas.openxmlformats.org/presentationml/2006/main" xmlns:a="http://schemas.openxmlformats.org/drawingml/2006/main" xmlns:r="http://schemas.openxmlformats.org/officeDocument/2006/relationships">
  <p:cSld>
    <p:spTree>
      <p:nvGrpSpPr><p:cNvPr id="1" name=""/><p:cNvGrpSpPr/><p:nvPr/></p:nvGrpSpPr>
      <p:grpSpPr><a:xfrm><a:off x="0" y="0"/><a:ext cx="0" cy="0"/><a:chOff x="0" y="0"/><a:chExt cx="0" cy="0"/></a:xfrm></p:grpSpPr>
      
      <!-- Title Box -->
      <p:sp>
        <p:nvSpPr>
          <p:cNvPr id="2" name="Title 1"/>
          <p:cNvSpPr><a:spLocks noGrp="1"/></p:cNvSpPr>
          <p:nvPr/>
        </p:nvSpPr>
        <p:spPr>
          <a:xfrm><a:off x="838200" y="609600"/><a:ext cx="10515600" cy="1143000"/></a:xfrm>
        </p:spPr>
        <p:txBody>
          <a:bodyPr/>
          <a:lstStyle/>
          <a:p>
            <a:r>
              <a:rPr lang="en-US" b="1" sz="3600">
                <a:solidFill><a:srgbClr val="1E3A8A"/></a:solidFill>
              </a:rPr>
              <a:t>4. Modern Tech Stack & Security Hardening</a:t>
            </a:r>
          </a:p>
        </p:txBody>
      </p:sp>

      <!-- Body Box -->
      <p:sp>
        <p:nvSpPr>
          <p:cNvPr id="3" name="Content 2"/>
          <p:cNvSpPr><a:spLocks noGrp="1"/></p:cNvSpPr>
          <p:nvPr/>
        </p:nvSpPr>
        <p:spPr>
          <a:xfrm><a:off x="838200" y="1981200"/><a:ext cx="10515600" cy="4267200"/></a:xfrm>
        </p:spPr>
        <p:txBody>
          <a:bodyPr/>
          <a:lstStyle/>
          
            <a:p>
              <a:pPr lvl="0"/>
              <a:r>
                <a:rPr lang="en-US" sz="2000">
                  <a:solidFill><a:srgbClr val="334155"/></a:solidFill>
                </a:rPr>
                <a:t>• Frontend: React 18, Tailwind CSS, Leaflet GIS Maps, Chart.js Data Visualizations.</a:t>
              </a:r>
            </a:p>
            <a:p>
              <a:pPr lvl="0"/>
              <a:r>
                <a:rPr lang="en-US" sz="2000">
                  <a:solidFill><a:srgbClr val="334155"/></a:solidFill>
                </a:rPr>
                <a:t>• Backend: Node.js, Express Serverless Architecture on Vercel.</a:t>
              </a:r>
            </a:p>
            <a:p>
              <a:pPr lvl="0"/>
              <a:r>
                <a:rPr lang="en-US" sz="2000">
                  <a:solidFill><a:srgbClr val="334155"/></a:solidFill>
                </a:rPr>
                <a:t>• Database: Sequelize ORM, SQLite3 (Serverless) / MySQL2 (Production).</a:t>
              </a:r>
            </a:p>
            <a:p>
              <a:pPr lvl="0"/>
              <a:r>
                <a:rPr lang="en-US" sz="2000">
                  <a:solidFill><a:srgbClr val="334155"/></a:solidFill>
                </a:rPr>
                <a:t>• Security: Helmet headers, CORS policies, Bcrypt password hashing, Input Sanitization.</a:t>
              </a:r>
            </a:p>
        </p:txBody>
      </p:sp>
    </p:spTree>
  </p:cSld>
</p:sld>
</file>

<file path=ppt/slides/slide6.xml><?xml version="1.0" encoding="UTF-8" standalone="yes"?>
<p:sld xmlns:p="http://schemas.openxmlformats.org/presentationml/2006/main" xmlns:a="http://schemas.openxmlformats.org/drawingml/2006/main" xmlns:r="http://schemas.openxmlformats.org/officeDocument/2006/relationships">
  <p:cSld>
    <p:spTree>
      <p:nvGrpSpPr><p:cNvPr id="1" name=""/><p:cNvGrpSpPr/><p:nvPr/></p:nvGrpSpPr>
      <p:grpSpPr><a:xfrm><a:off x="0" y="0"/><a:ext cx="0" cy="0"/><a:chOff x="0" y="0"/><a:chExt cx="0" cy="0"/></a:xfrm></p:grpSpPr>
      
      <!-- Title Box -->
      <p:sp>
        <p:nvSpPr>
          <p:cNvPr id="2" name="Title 1"/>
          <p:cNvSpPr><a:spLocks noGrp="1"/></p:cNvSpPr>
          <p:nvPr/>
        </p:nvSpPr>
        <p:spPr>
          <a:xfrm><a:off x="838200" y="609600"/><a:ext cx="10515600" cy="1143000"/></a:xfrm>
        </p:spPr>
        <p:txBody>
          <a:bodyPr/>
          <a:lstStyle/>
          <a:p>
            <a:r>
              <a:rPr lang="en-US" b="1" sz="3600">
                <a:solidFill><a:srgbClr val="1E3A8A"/></a:solidFill>
              </a:rPr>
              <a:t>5. Live Demo, Impact & Future Scalability</a:t>
            </a:r>
          </a:p>
        </p:txBody>
      </p:sp>

      <!-- Body Box -->
      <p:sp>
        <p:nvSpPr>
          <p:cNvPr id="3" name="Content 2"/>
          <p:cNvSpPr><a:spLocks noGrp="1"/></p:cNvSpPr>
          <p:nvPr/>
        </p:nvSpPr>
        <p:spPr>
          <a:xfrm><a:off x="838200" y="1981200"/><a:ext cx="10515600" cy="4267200"/></a:xfrm>
        </p:spPr>
        <p:txBody>
          <a:bodyPr/>
          <a:lstStyle/>
          
            <a:p>
              <a:pPr lvl="0"/>
              <a:r>
                <a:rPr lang="en-US" sz="2000">
                  <a:solidFill><a:srgbClr val="334155"/></a:solidFill>
                </a:rPr>
                <a:t>• Live URL: https://hack-in-motion-ricr-him-1026.vercel.app</a:t>
              </a:r>
            </a:p>
            <a:p>
              <a:pPr lvl="0"/>
              <a:r>
                <a:rPr lang="en-US" sz="2000">
                  <a:solidFill><a:srgbClr val="334155"/></a:solidFill>
                </a:rPr>
                <a:t>• Real-World Impact: Reduces municipal inspection dispatch overhead by up to 60%.</a:t>
              </a:r>
            </a:p>
            <a:p>
              <a:pPr lvl="0"/>
              <a:r>
                <a:rPr lang="en-US" sz="2000">
                  <a:solidFill><a:srgbClr val="334155"/></a:solidFill>
                </a:rPr>
                <a:t>• Future Scope: AI-driven computer vision validation and predictive monsoon waterlogging hotspots.</a:t>
              </a:r>
            </a:p>
        </p:txBody>
      </p:sp>
    </p:spTree>
  </p:cSld>
</p:sld>
</file>